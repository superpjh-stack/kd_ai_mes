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경동CAD 객체인식 프로세스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도면·문서 데이터 자산화를 위한 제조AI 파이프라인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3140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95728" y="4457700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4206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3140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추출·인식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4457700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4206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3140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7648" y="4457700"/>
            <a:ext cx="3657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20840" y="42062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경동글로벌텍 제조AI 프로젝트  |  2026. 07. 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현황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도면함 ZIP 2개 · 압축해제 3.1GB · 2016~2021년 프로젝트 중심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1,675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19개 프로젝트 폴더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55848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도면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7288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 504 · CADian 322 · DXF 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188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208776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문서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0216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텍스트본 81 · 스캔본 107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554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279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061704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사진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53144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계약서·성적서 스캔 포함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5800" y="452628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텍스트본 PDF 81건은 표제란(도번·재질·고객사) 파싱이 즉시 가능 — 초기 성과 확보 영역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스캔본 107건 + 사진 279건은 한국어 OCR 파이프라인 필요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 내부 텍스트는 압축 바이너리 → ODA 변환 후 추출, CADian(.cad)은 DWG 일괄 저장 선행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파일명에 프로젝트코드·품목·용량·리비전이 인코딩되어 있어 검색 1차 인덱스로 활용 가능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파이프라인 구성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그룹 · 색상 = 구현 방식 구분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EAF0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인벤토리 적재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불용파일 필터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파서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3337560"/>
            <a:ext cx="50292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19202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추출·인식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4904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2A 문서: OCR·표제란 인식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 도면: 변환·파싱·임베딩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3337560"/>
            <a:ext cx="50292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19202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3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3337560"/>
            <a:ext cx="502920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19202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875520" y="31546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유사도면 추천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챗봇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산정 지원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486400"/>
            <a:ext cx="274320" cy="274320"/>
          </a:xfrm>
          <a:prstGeom prst="rect">
            <a:avLst/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규칙·도구 기반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5486400"/>
            <a:ext cx="274320" cy="274320"/>
          </a:xfrm>
          <a:prstGeom prst="rect">
            <a:avLst/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포함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5486400"/>
            <a:ext cx="274320" cy="2743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서비스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1 · 수집·정제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— ML 불필요, 전체 파이프라인의 1차 인덱스 생성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99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인벤토리 적재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 메타데이터 스캔으로 1,675개 파일을 DB화. 경로·크기·수정일·확장자 수집 (현재 엑셀 인벤토리로 완료된 단계)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10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불용파일 필터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758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.bak·.log·.dwl·.tmp 등 약 290개 제외. 해시 기반 중복 도면 제거로 학습·검색 대상 데이터 정제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80060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910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파일명 파서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2760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정규식으로 프로젝트코드(GD2003-00)· 품목·용량(160L)·가공공정(선반/LASER)· 리비전(200130-b1) 추출 → 메타데이터 인덱스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파일 메타데이터 마스터 DB — 이후 모든 그룹이 참조하는 기준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2A · 문서 트랙 (PDF 188 + 사진 279)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문서를 구조화 데이터로 변환 — ML 핵심 구간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99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추출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텍스트본 PDF 81건 — pdftotext로 즉시 추출. 표제란 필드(도번·재질·고객사) 규칙 파싱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709928"/>
            <a:ext cx="13258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099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OCR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0756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스캔본 107건 + 사진 279건 — 기울기 보정 등 전처리 후 문자 인식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0" y="1709928"/>
            <a:ext cx="13258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표제란 영역 검출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이미지에서 표제란·표 영역을 객체 탐지로 위치 특정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264408"/>
            <a:ext cx="13258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정보추출(KIE) · 문서분류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63016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영역에서 도번·재질·설계압력 Key-Value 추출, 도면/계산서/검사증 자동 분류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41280" y="3264408"/>
            <a:ext cx="13258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ML 모델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OCR: Upstage Document AI · CLOVA OCR · PaddleOCR(오픈소스)      표제란 검출: YOLOv8 파인튜닝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정보추출: LayoutLMv3 · Donut 또는 VLM(Claude/GPT-4V)      문서분류: KoBERT 경량 분류기 또는 LLM zero-shot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2B · 도면 트랙 (CAD 835)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 504 · CADian 322 · DXF 9 — 도면 객체 구조화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99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 변환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.cad는 CADian에서 DWG 일괄 저장 → ODA File Converter로 DWG를 DXF 변환 (71%가 AutoCAD 2000 포맷)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709928"/>
            <a:ext cx="13258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099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파싱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0756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ezdxf로 TEXT·MTEXT·블록속성·치수 엔티티 추출 → 표제란·주기·BOM 텍스트 구조화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0" y="1709928"/>
            <a:ext cx="13258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렌더링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DXF를 이미지(PNG)로 일괄 렌더링 — 임베딩·미리보기·심볼 검출 입력 데이터 생성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3264408"/>
            <a:ext cx="13258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264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임베딩 · 심볼 검출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63016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이미지를 벡터화하여 유사도면 검색 기반 구축. 노즐·플랜지 등 심볼 객체 검출은 선택 확장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41280" y="3264408"/>
            <a:ext cx="13258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ML 모델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임베딩: CLIP · DINOv2 (유사도면 검색)      심볼 객체 검출: YOLOv8 (노즐·플랜지·용접기호 - 선택)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단계는 규칙 기반(ezdxf)으로 ML 불필요 — 빠른 초기 성과 확보 가능 구간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3·4 · 지식화와 AI 서비스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추출된 데이터를 검색 가능한 지식으로 전환하고 서비스로 제공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3 — 지식화·인덱싱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214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DB (RDB)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파서 + 표제란 추출 결과 적재 — 1차 키워드 검색 인덱스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930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8587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텍스트 임베딩(bge-m3·ko-sbert) + 도면 이미지 임베딩 저장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3493008"/>
            <a:ext cx="132588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47548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6460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2303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키워드(BM25) + 벡터 유사도 결합 — 도번 정확 매칭과 의미 검색 동시 지원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4 — AI 활용 서비스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121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유사도면 추천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4871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수주 시 과거 유사 도면·견적 자동 추천 → 설계 재사용, 견적 리드타임 단축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챗봇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38587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"STS316L 160L 반응기 제작 이력은?" — 사양·이력 자연어 질의응답 (Claude API)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75488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864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산정 지원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52303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프로젝트 매칭 기반 자재·공수 참조 견적 — 축적될수록 정확도 향상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ML 모델 총괄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466건 규모 — 파인튜닝보다 상용 OCR + LLM 조합이 비용 효율적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2743200"/>
                <a:gridCol w="16459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모델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대상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OCR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Upstage Document AI · CLOVA OCR · PaddleOCR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PDF 107 + 사진 279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상용/오픈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 영역 검출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 (표제란·표 영역 파인튜닝)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도면 PDF·이미지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파인튜닝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정보추출(KIE)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LayoutLMv3 · Donut · VLM(Claude/GPT-4V)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 → 도번·재질·압력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사전학습/API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문서유형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KoBERT 경량 분류기 · LLM zero-shot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188건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경량/API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임베딩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CLIP · DINOv2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도면 유사도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임베딩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· ko-sbert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본문·메타데이터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LLM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기반 질의응답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 (권장 순서)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→ ML 순서로 빠른 성과를 먼저 확보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EAF0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32004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인벤토리·파일명 파서 (완료 단계 포함)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320040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0116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EAF0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트랙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98648" y="32004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변환·파싱 — 빠른 성과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18888" y="320040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20116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74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트랙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84648" y="32004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OCR·표제란 인식 (ML 도입 시작)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04888" y="320040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20116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0648" y="32004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DB + 벡터 DB + 하이브리드 검색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90888" y="320040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20116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56648" y="320040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유사도면 추천 → RAG 챗봇 → 견적 지원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 사항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규모(문서 466건)가 크지 않아 자체 파인튜닝보다 상용 OCR + LLM API 조합이 초기 비용 효율적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도면 트랙은 ML 없이 규칙(ezdxf)만으로 표제란·BOM 추출 가능 — 조기 가시 성과 확보 구간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표제란 검출(YOLOv8)만 소량 라벨링 파인튜닝 필요 — 도면 100~200장 라벨링으로 충분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① 규칙 기반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정규식·파서 활용 — 비용 최소, 조기 성과 구간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0" y="1600200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AF0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67335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파일명·폴더경로 1,675건  ·  텍스트본 PDF 81건  ·  DXF 변환 도면(활용CAD 413 + 변환된 .cad 320)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0720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2807208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AF0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88036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파일명 파싱(코드·품목·용량·리비전) → pdftotext 표제란 필드 파싱 → ODA 변환 후 ezdxf로 TEXT·블록속성·치수 추출 → 메타데이터 DB 적재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014216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14216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4014216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AF0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087368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마스터 DB — 도번·제품·고객사·재질·리비전 구조화 레코드 (1차 검색 인덱스)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221224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22122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57400" y="5221224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AF0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5294376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커버리지(현재 파일명 기준 미분류 51건)  ·  필드 정확도(샘플 100건 수작업 대조)  ·  미매칭 사유 분석 → 규칙 보완 반복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② API 활용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OCR·LLM — 개발 부담 최소, 건당 과금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0" y="1600200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FDE7E8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67335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스캔본 PDF 107건  ·  제작사진·스캔 이미지 279건  ·  표제란 크롭 이미지(방식 ③의 검출 결과)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0720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2807208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FDE7E8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88036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전처리(기울기 보정·이진화) → OCR API(Upstage·CLOVA) → LLM API로 Key-Value 추출·문서분류 → 저신뢰 건은 사람 검수 큐 분기 → DB 적재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014216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14216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4014216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FDE7E8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087368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전문 텍스트  ·  구조화 JSON(도번·재질·설계압력)  ·  문서유형 라벨(도면/계산서/검사증)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221224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22122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57400" y="5221224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FDE7E8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5294376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골드셋(수작업 라벨 50~100건) 기준 CER·필드 Exact Match/F1  ·  분류 정확도  ·  건당 비용·처리시간  ·  검수 부하(임계 신뢰도 미달률)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③ ML 자체 모델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파인튜닝·임베딩 — 라벨링 투자 필요, 차별화 역량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57400" y="1600200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67335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표제란 검출: 도면 100~200장 바운딩박스 라벨  ·  유사도면 검색: 렌더링 이미지 전량(라벨 불필요)  ·  심볼 검출(선택): 노즐·플랜지 라벨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0720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2807208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88036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Studio 라벨링 → train/val/test 분할(7:1.5:1.5) → YOLOv8 파인튜닝 → 배치 추론 표제란 크롭  /  CLIP·DINOv2 임베딩 → 벡터DB → Top-K 검색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014216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14216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4014216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087368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표제란 좌표·크롭(방식 ②의 OCR 입력으로 연결)  ·  도면 벡터 인덱스  ·  유사도면 Top-K 추천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221224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22122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57400" y="5221224"/>
            <a:ext cx="9601200" cy="1051560"/>
          </a:xfrm>
          <a:prstGeom prst="roundRect">
            <a:avLst>
              <a:gd name="adj" fmla="val 521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5294376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검출: mAP@0.5·IoU  /  검색: Recall@K·Precision@K(정답 유사쌍 셋)  /  운영: 추천 채택률·검색 클릭률 → 분기별 재학습 판단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방식 비교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방식은 대체가 아닌 연결 관계 — 골드셋 기반 공통 평가가 핵심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규칙 기반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API 활용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ML 자체 모델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파일명·텍스트 PDF·DXF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PDF·사진 386건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도면 이미지·라벨 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(개발 공수만)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(건당 과금)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(라벨링+학습)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부담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정규식·파서 구현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연동·검수 흐름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라벨링·학습 파이프라인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평가지표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커버리지·필드 정확도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CER·F1·건당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mAP·Recall@K·채택률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 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P1~P2 즉시 착수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문서 트랙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P3~P4 병행 구축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25780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구조: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표제란 검출 → ② OCR·KIE 입력  /  ①·② 구조화 결과 + ③ 벡터 인덱스 → 하나의 하이브리드 검색 DB로 통합.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평가: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골드셋을 먼저 구축해 세 방식을 동일 기준으로 비교·검증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결과·성능 평가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산출물에 정량 KPI를 부여 — 골드셋·로그 기반으로 측정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291840"/>
                <a:gridCol w="155448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KPI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 수집·정제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 마스터 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파싱 커버리지 · 필드 정확도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≥95% · ≥98%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100건 수작업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 도면 변환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DXF 변환 도면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포맷 변환 성공률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≥95%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변환 로그 자동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 도면 파싱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표제란·BOM 텍스트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추출률(도면당 필드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≥90%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50건 원본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표제란 검출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 크롭 이미지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mAP@0.5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≥0.95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테스트셋(라벨 30장)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OCR·정보추출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필드(JSON)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CER(문자오류율) · 필드 Exact Match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≤5% · ≥90%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골드셋 100건 자동 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문서분류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문서유형 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정확도(Macro F1)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≥95%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골드셋 100건 자동 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 검색 인덱스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검색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Recall@10 · 응답시간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≥0.9 · ≤2초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질의셋 50건 반복 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P5 AI 서비스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유사도면 추천 · RAG 챗봇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채택률 · 답변 정확도(근거 인용)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≥60% · ≥90%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현업 파일럿 4주 운영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골드셋(수작업 정답 데이터)을 P1 단계에서 선구축해 전 단계 공통 기준으로 사용 · KPI 미달 단계는 다음 단계 진행 전 원인 분석(규칙 보완/모델 교체/재학습) · 운영 전환 후 분기별 재측정으로 성능 저하(드리프트) 감시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기반 최적 견적 방법론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객체인식 완료 후 — 도면 BOM에서 견적 초안까지 자동 생성, 확정 실적은 재학습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BOM 추출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표·블록속성에서 품명·재질·규격·수량 추출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27248" y="2697480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자재 마스터 매핑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항목을 단가 DB와 임베딩 유사도 매칭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9048" y="2697480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원가 산정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자재비 = 수량×최신 단가 공수 = 유사 실적+회귀 예측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70848" y="2697480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17830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견적서 생성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55480" y="2468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근거 인용 포함 견적 초안 작성 → 검토·확정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16052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4160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견적·실제 투입 공수 → 실적 DB 재축적 (견적 정확도 지속 향상 루프)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607040" y="3611880"/>
            <a:ext cx="0" cy="8229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4434840"/>
            <a:ext cx="192024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4434840"/>
            <a:ext cx="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4434840"/>
            <a:ext cx="169164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3611880"/>
            <a:ext cx="0" cy="8229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07492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작성 시간 단축: 유사 도면·실적 자동 참조로 수일 → 수 시간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편차 축소: 담당자 경험 의존 산정을 실적 데이터 기반으로 표준화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방지: BOM 자동 추출로 자재·가공 항목 빠짐 검증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파이프라인 — 단계별 모델·방식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모델·방식 → 출력 관계와 정확도 관리 포인트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4480560"/>
                <a:gridCol w="246888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BOM 추출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DXF 표·블록속성, 표제란 OCR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ezdxf 표 파싱(규칙) + Table Transformer 표 구조 인식 + LLM 품명 정규화(약어·오기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항목: 품명·재질·규격·수량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자재 매핑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항목 + 자재 마스터(단가 DB)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임베딩 유사도 매칭 + 규격 규칙 파싱(치수·DN) — 신뢰도 낮은 건 검수 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 연결 BOM (매칭 신뢰도 점수)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원가 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매핑 BOM + 유사 프로젝트 실적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자재비: 수량×최신 단가 / 공수: 유사도면 k-NN 실적 참조 + XGBoost 회귀(용량·재질·압력→공수)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자재비·가공비·외주비 예측치(범위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견적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원가 내역 + 유사 실적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LLM(Claude API) 견적서 초안 작성 — 항목별 산정 근거·유사 프로젝트 인용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견적서 초안 → 담당자 검토·확정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97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관리: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오차율(확정 실적 대비 ±10% 이내)·BOM 추출 재현율(≥95%)·자재 매칭 정확도(≥90%)를 KPI로 관리. 초기에는 전 건 담당자 검토를 거치고, 오차 데이터가 쌓이면 회귀 모델을 분기별 재학습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 예시 — AI 견적 초안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VESSEL 160L(STS316L) 도면 기준 예시 데이터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120640"/>
          </a:xfrm>
          <a:prstGeom prst="roundRect">
            <a:avLst>
              <a:gd name="adj" fmla="val 1429"/>
            </a:avLst>
          </a:prstGeom>
          <a:solidFill>
            <a:srgbClr val="F5F6FA"/>
          </a:solidFill>
          <a:ln w="12700">
            <a:solidFill>
              <a:srgbClr val="AAB2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1556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경동 AI 견적 시스템  |  견적 초안 Q2607-015  ·  도면 SUNBIO-VESSEL-R-001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1490472"/>
            <a:ext cx="1737360" cy="310896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신뢰도 87%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30175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9D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미리보기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2651760" cy="1005840"/>
          </a:xfrm>
          <a:prstGeom prst="roundRect">
            <a:avLst>
              <a:gd name="adj" fmla="val 1818"/>
            </a:avLst>
          </a:prstGeom>
          <a:solidFill>
            <a:srgbClr val="EDF1F9"/>
          </a:solidFill>
          <a:ln w="6350">
            <a:solidFill>
              <a:srgbClr val="C9D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VESSEL 160L 단면도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객체인식: 표제란·BOM표 2개 영역 검출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30175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C9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프로젝트 실적 (Top 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GD2003-01 VESSEL 160L — 유사도 94% · 실적 9.8백만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GD1904-01 리시버 200L — 유사도 81% · 실적 7.2백만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GD1802-02 베셀 250L — 유사도 76% · 실적 11.5백만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7764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추출된 BOM (도면 자동 인식)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2377440"/>
          <a:ext cx="43434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88720"/>
                <a:gridCol w="36576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재질·규격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단가(원)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7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SHELL(동체)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STS316L Ø626×835 t5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1,450,000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1,450,000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경판(DISHED)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STS316L Ø626 t6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1,240,000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JACKET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STS304 t4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FLANGE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DIN2576 DN50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NOZZLE SET 외 12건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STS316L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1,010,000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977640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추출 신뢰도 91% — 2개 항목 검수 필요(노란색 표시 가정)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503920" y="2057400"/>
            <a:ext cx="2926080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견적 요약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4108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19556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4,820,000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4108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가공비(실적 기반)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19556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3,150,000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4108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외주·검사비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195560" y="3182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900,000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41080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관리비·마진(15%)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19556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1,330,000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641080" y="3931920"/>
            <a:ext cx="265176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4108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견적(VAT 별도)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966960" y="39776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10,200,000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977640" y="4892040"/>
            <a:ext cx="7452360" cy="960120"/>
          </a:xfrm>
          <a:prstGeom prst="roundRect">
            <a:avLst>
              <a:gd name="adj" fmla="val 3810"/>
            </a:avLst>
          </a:prstGeom>
          <a:solidFill>
            <a:srgbClr val="EDF1F9"/>
          </a:solidFill>
          <a:ln w="6350">
            <a:solidFill>
              <a:srgbClr val="C9D2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60520" y="50292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산정 근거: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가공비는 유사도 94% GD2003-01 실적 공수(112h)에 용량·재질 보정 계수 적용. 자재 단가는 2026-07 스테인리스 시세 반영. 오차 범위 ±8% 추정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869680" y="5989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6968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요청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0195560" y="59893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</p:sp>
      <p:sp>
        <p:nvSpPr>
          <p:cNvPr id="37" name="Text 34"/>
          <p:cNvSpPr/>
          <p:nvPr/>
        </p:nvSpPr>
        <p:spPr>
          <a:xfrm>
            <a:off x="10195560" y="5989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확정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[데이터 쌍끌이 수집] ① 태스크별 데이터 요구량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기준 학습:검증:테스트 = 70:15:15  ·  평가전용은 분할 없이 골드셋으로 운용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371600"/>
                <a:gridCol w="1188720"/>
                <a:gridCol w="2011680"/>
                <a:gridCol w="24688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태스크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단위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최소(MVP)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분할(학습/검증/테스트)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확보 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 검출 (YOLOv8)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바운딩박스 라벨 도면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 / 15 / 15장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도면 835건에서 라벨링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표 구조 인식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영역·셀 라벨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105 / 22 / 23장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BOM표 포함 도면 우선 선별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OCR (상용 API)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골드셋 문서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평가전용(분할 없음)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스캔본 107건 + 사진에서 표본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문서유형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문서(클래스당 50+)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 / 45 / 45건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188 + 사진·신규 스캔 보충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유사도면 검색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유사쌍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평가전용(분할 없음)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담당자가 유사쌍 지정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자재 단가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자재 마스터 + 매핑 정답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 500품목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1,000품목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200건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견적 엑셀·구매 이력에서 구축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견적 공수 회귀 (XGBoost)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완결 실적 프로젝트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100건+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 / 4 / 5건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병목 — 쌍끌이 수집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라벨링은 최소(MVP)로 시작해 성능 곡선을 보고 증분 — 라벨 2배 대비 성능 향상이 1%p 미만이면 중단. 검출·분류는 리비전만 다른 유사 도면이 학습/테스트에 갈리지 않도록 프로젝트 단위로 분할(데이터 누수 방지)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[데이터 쌍끌이 수집] ② 도면-견적-실적 쌍 확보 전략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자동화의 병목은 도면이 아니라 '완결 쌍' — 4종 세트를 프로젝트코드로 묶어 수집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AF0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DWG·PDF 835건 보유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27248" y="2167128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645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AF0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내 표 + 자재내역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9048" y="2167128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46520" y="1645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7건 확인 — 추가 발굴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0848" y="2167128"/>
            <a:ext cx="32918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1645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DE7E8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실적·공수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09760" y="2148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수주액·작업일보 — 최대 공백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붉은색 = 현재 부족 구간 — 도면은 충분하나 견적·실적과 연결된 '완결 쌍'이 없으면 회귀 학습 불가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수집원별 쌍끌이 방법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도면함(보유): 파일명 프로젝트코드 파서로 도면-BOM 자동 연결 (즉시 가능)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견적·구매 엑셀: 사내 PC·메일 첨부에서 GD코드 검색으로 일괄 발굴 → 자재 단가 마스터 겸용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회계·세금계산서: 수주액(확정 견적) 역추적 — 프로젝트당 1건이면 충분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작업일보·담당자 인터뷰: 과거 프로젝트 투입 공수 복원 (핵심 30건 우선)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수주(향후): 표준 폴더 규칙 + 견적 시스템 사용으로 쌍이 자동 축적되는 구조 전환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76072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내 완결 쌍 30건(MVP 회귀 학습 개시) → 6개월 50건 → 12개월 100건(권장 수준). 이후 신규 수주마다 자동 +1건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[라벨링 방안] ① 대상·클래스 정의·도구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검출 학습용 바운딩박스 라벨 — 클래스 정의서와 예시 이미지가 품질의 절반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6217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태스크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클래스(라벨)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정의·포함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 검출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title_block (표제란)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도번·도명·재질·승인란 포함 우측 하단 표 전체 — 외곽선 기준 박스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bom_table (BOM표)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품명·재질·수량 컬럼을 가진 자재 목록 표 — 머리글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rev_table (리비전표)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이력 표 — 표제란과 분리된 경우만 별도 라벨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심볼 검출(선택)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nozzle / flange / weld_sym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노즐·플랜지·용접기호 — 2차 고도화 단계에서 착수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도구·라벨링 규칙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484632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도구: Label Studio(오픈소스·웹 기반·YOLO 포맷 내보내기) — 다인 동시 작업·검수 워크플로 지원. 대안 CVAT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규칙: 대상 외곽선 기준 + 여백 최소화 · 잘린 표는 보이는 영역만 · 회전 스캔은 전처리(각도 보정) 후 라벨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정의서: 클래스별 정상·경계·제외 예시 이미지 3장 이상 첨부 — 판정이 갈린 케이스는 로그로 남겨 가이드에 반영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선별: 프로젝트·연도·제품군별 층화 샘플링 — 같은 프로젝트 리비전 도면 쏠림 방지(데이터 누수·편향 예방)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[라벨링 방안] ② 프로세스·품질관리·공수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파일럿으로 가이드를 먼저 굳히고, 모델 예측을 활용한 반자동 라벨링으로 속도 확보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대상 선별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샘플링 300~400장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233172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645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파일럿 30장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2인 교차 라벨 → 가이드 확정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233172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645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본 라벨링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반자동: 모델 예측 → 사람은 수정만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33172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645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 이중 라벨 IoU 일치도 ≥0.9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90888" y="2331720"/>
            <a:ext cx="237744" cy="0"/>
          </a:xfrm>
          <a:prstGeom prst="line">
            <a:avLst/>
          </a:prstGeom>
          <a:noFill/>
          <a:ln w="254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46920" y="1645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데이터셋 확정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836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포맷 변환 버전 관리(DVC)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반자동 라벨링(Model-in-the-loop):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100장 수작업 라벨로 1차 모델 학습 → 나머지는 모델이 선라벨(pre-label)하고 사람은 수정·승인만 수행(속도 2~3배). 모델 신뢰도가 낮은 도면부터 우선 라벨링(Active Learning)하면 같은 라벨 수로 더 빠른 성능 도달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8056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54480"/>
                <a:gridCol w="2011680"/>
                <a:gridCol w="3291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장당 소요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공수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표제란·BOM 영역 박스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8~10시간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반자동 적용 시 4~5시간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표 셀 구조 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5~10분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150장(MVP)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15~25시간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인식 모델 선라벨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검수·가이드 정비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10%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5시간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담당자 참여 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02920" y="63550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공수: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기준 약 30~40시간 = 2인 × 1주 이내. 라벨링 인력은 외주보다 도면을 아는 내부 설계 인력 + 보조 인력 조합 권장(경계 판정 품질이 좌우)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2026-07-21T14:18:06Z</dcterms:created>
  <dcterms:modified xsi:type="dcterms:W3CDTF">2026-07-21T14:18:06Z</dcterms:modified>
</cp:coreProperties>
</file>