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제조AI특화 스마트공장 구축지원사업  |  과제번호 SF26179182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C3D8F3"/>
                </a:solidFill>
                <a:latin typeface="맑은 고딕"/>
                <a:ea typeface="맑은 고딕"/>
                <a:cs typeface="맑은 고딕"/>
              </a:rPr>
              <a:t>경동글로벌텍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제조AI 시스템 화면정의서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611880"/>
            <a:ext cx="2011680" cy="36576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업무화면 45건 · 공통화면 4건 · 업무영역 10개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근거 : SF-AD1·AD2·AD3 분석서 3종 / SF-TD1~TD5 설계서 5종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4924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도입기업  경동글로벌텍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공급기업  주식회사 재일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v1.0  (2026. 08. 14)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화면정의서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26883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2688336" cy="32004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7043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업무 화면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53312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45건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0078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업무영역 10개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8416" y="987552"/>
            <a:ext cx="26883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8416" y="987552"/>
            <a:ext cx="2688336" cy="32004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17043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신규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353312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17건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70078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변경 24 · 기존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987552"/>
            <a:ext cx="26883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987552"/>
            <a:ext cx="2688336" cy="32004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17043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공통 화면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1353312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4건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170078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메인·로그인·팝업·대시보드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987552"/>
            <a:ext cx="26883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70848" y="987552"/>
            <a:ext cx="2688336" cy="32004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17043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목표 수준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353312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기초 → 중간1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70078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중간산출물 초안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21284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작성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505456"/>
            <a:ext cx="5532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9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화면(보고서) ID는 MES-TD3-001 형식으로 부여하며 SF-AD2 요구사항ID(MES-AD2-###)·SF-TD4 프로그램ID(MES-TD4-###)와 1:1로 추적된다.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9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화면은 SF-AD2 기능 요구사항 45건 전건에 대해 작성하며, 비기능 요구사항 13건(MES-AD2-046~058)은 화면을 생성하지 않고 SF-TD2 아키텍처설계서에서 다룬다.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9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FP산정리스트의 EIF 4행은 화면 없는 인터페이스 프로그램(MES-TD4-046~049)으로 SF-TD4에만 존재한다.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9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화면 구성 이미지는 설계 기준 와이어프레임이며 실제 UI는 개발 단계에서 확정한다. 예시 데이터는 형식 예시이며 실제 데이터가 아니다.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9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그리드 열과 조회조건은 SF-TD5 데이터베이스설계서의 컬럼 정의에서 도출하였다.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21284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 표준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505456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9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경동글로벌텍 제조AI 시스템 화면은 관리자 Web, 현장POP(터치PC), 스마트패드, 현황판, AI Agent UI가 동일한 기준정보와 프로젝트·LOT 데이터를 조회·입력하도록 공통 레이아웃과 입력 규칙을 적용한다.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9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ETO 주문 제작 특성에 따라 모든 업무 화면의 최상위 조회 축은 프로젝트(수주)번호·도면번호이며, LOT는 프로젝트 하위의 자재·제품 단위 식별자로 표시한다.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9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현장 단말(현장POP 1대·스마트패드 2대)은 입력 항목을 최소화하고 터치 입력에 맞춘 큰 버튼과 스캔 입력을 우선한다.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9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AI 산출 결과 화면은 반드시 신뢰도(Confidence Score)와 근거를 함께 표시하며, 관리자 검토·승인 전에는 확정 상태로 표기하지 않는다.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56048"/>
            <a:ext cx="11292840" cy="13258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10235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도입기업 개요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3583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주요 제품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7632" y="535838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반응기(Reactor), 교반기(Agitator), 진공건조기, 누체필터(Nutsche Filter), 저장탱크(Receiver Tank) 등 ETO 주문 설계·제작 고정밀 산업장비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6235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주요 공정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7632" y="5623560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수주견적관리 → 입고검사 → 소재가공(외주) → 가공(레이저 커팅) → 제관 및 용접 → 버핑(외주) → 조립 → 출하검사(수압·기밀·진공) → 포장 → 출하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887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성과지표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7632" y="5888736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제조 리드타임 1,320h→1,080h(18.2% 단축), 수주출하 리드타임 1,440h→1,200h(16.7% 단축)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화면정의서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    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78408"/>
            <a:ext cx="50292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960120"/>
            <a:ext cx="4421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2644" y="96012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252728"/>
            <a:ext cx="5317236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생산현황 분석  ·  품질현황 분석  ·  설비상태 모니터링  ·  출하현황 분석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978408"/>
            <a:ext cx="50292" cy="274320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6228" y="960120"/>
            <a:ext cx="4421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입고재고관리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96012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5건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6228" y="1252728"/>
            <a:ext cx="5317236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입고관리  ·  원자재 이력조회  ·  입고 데이터관리  ·  공급처 품질분석  ·  입고 AI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09572"/>
            <a:ext cx="50292" cy="274320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891284"/>
            <a:ext cx="4421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수주견적AI관리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2644" y="189128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6건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183892"/>
            <a:ext cx="5317236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CAD 도면분석  ·  객체인식 결과관리  ·  견적자동산출  ·  BOM자동생성  ·  ML분석  ·  영향요인분석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1909572"/>
            <a:ext cx="50292" cy="274320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6228" y="1891284"/>
            <a:ext cx="4421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출하물류관리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189128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5건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2183892"/>
            <a:ext cx="5317236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출하관리  ·  LOT추적관리  ·  검사결과관리  ·  클레임분석  ·  출하 AI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40736"/>
            <a:ext cx="50292" cy="27432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822448"/>
            <a:ext cx="4421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공정관리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2644" y="282244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5건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3115056"/>
            <a:ext cx="5317236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공정실적관리  ·  공정 데이터 모니터링  ·  작업조건관리  ·  공정이력조회  ·  공정데이터 분석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2840736"/>
            <a:ext cx="50292" cy="274320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6228" y="2822448"/>
            <a:ext cx="4421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사용자/시스템관리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282244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6228" y="3115056"/>
            <a:ext cx="5317236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사용자 관리  ·  로그 관리  ·  알림 설정  ·  시스템 설정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71899"/>
            <a:ext cx="50292" cy="274320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753611"/>
            <a:ext cx="4421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기준정보관리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2644" y="3753611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4046220"/>
            <a:ext cx="5317236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품질기준 관리  ·  작업표준관리  ·  코드관리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1636" y="3771899"/>
            <a:ext cx="50292" cy="274320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6228" y="3753611"/>
            <a:ext cx="4421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27080" y="3753611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5건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6228" y="4046220"/>
            <a:ext cx="5317236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데이터통합관리  ·  데이터조회  ·  데이터시각화  ·  데이터 다운로드  ·  AI학습 데이터관리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703063"/>
            <a:ext cx="50292" cy="274320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4684776"/>
            <a:ext cx="4421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Agent 통합관리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52644" y="468477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5건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4977384"/>
            <a:ext cx="5317236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통합 AI질의  ·  생산/품질 분석  ·  의사결정 지원  ·  알림 및 추천  ·  사용자 질문이력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1636" y="4703063"/>
            <a:ext cx="50292" cy="274320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96228" y="4684776"/>
            <a:ext cx="4421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KPI관리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27080" y="468477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6228" y="4977384"/>
            <a:ext cx="5317236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생산성 KPI 조회  ·  품질 KPI 조회  ·  KPI 관리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634228"/>
            <a:ext cx="50292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5615940"/>
            <a:ext cx="4421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공통화면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52644" y="561594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5908548"/>
            <a:ext cx="5317236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메인시안  ·  로그인 화면  ·  팝업 화면  ·  대시보드 화면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화면정의서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경동글로벌텍 제조AI 시스템 전체 메뉴구조도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d3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281"/>
            <a:ext cx="11292840" cy="4352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44768"/>
            <a:ext cx="11292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메뉴는 SF-AD2 요구사항 10개 모듈·45건과 동일 순번으로 구성한다 (인터페이스 프로그램 4건은 화면 없음)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화면정의서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목록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60120"/>
          <a:ext cx="1129284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554480"/>
                <a:gridCol w="2103120"/>
                <a:gridCol w="3703320"/>
                <a:gridCol w="1737360"/>
                <a:gridCol w="16459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화면ID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업무영역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프로그램ID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대시보드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생산현황 분석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MES-TD3-002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대시보드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품질현황 분석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MES-TD4-002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대시보드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설비상태 모니터링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MES-TD3-004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대시보드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출하현황 분석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MES-TD4-004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입고재고관리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입고관리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MES-TD3-006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입고재고관리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원자재 이력조회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MES-TD4-006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입고재고관리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입고 데이터관리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MES-TD3-008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입고재고관리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공급처 품질분석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MES-TD4-008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입고재고관리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입고 AI Agent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MES-TD3-010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수주견적AI관리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CAD 도면분석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MES-TD4-010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수주견적AI관리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객체인식 결과관리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MES-TD3-012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수주견적AI관리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견적자동산출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MES-TD4-012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수주견적AI관리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BOM자동생성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MES-TD3-014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수주견적AI관리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ML분석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MES-TD4-014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수주견적AI관리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영향요인분석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화면정의서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목록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60120"/>
          <a:ext cx="1129284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554480"/>
                <a:gridCol w="2103120"/>
                <a:gridCol w="3703320"/>
                <a:gridCol w="1737360"/>
                <a:gridCol w="16459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화면ID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업무영역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프로그램ID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출하물류관리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MES-TD3-017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출하물류관리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LOT추적관리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MES-TD4-017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출하물류관리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검사결과관리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MES-TD3-019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출하물류관리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클레임분석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MES-TD4-019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출하물류관리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 AI Agent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MES-TD3-021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공정실적관리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MES-TD4-021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데이터 모니터링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MES-TD3-023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작업조건관리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MES-TD4-023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공정이력조회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MES-TD3-025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공정데이터 분석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MES-TD4-025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사용자/시스템관리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MES-TD3-027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사용자/시스템관리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 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MES-TD4-027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사용자/시스템관리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MES-TD3-029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사용자/시스템관리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설정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MES-TD4-029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기준정보관리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품질기준 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화면정의서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목록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60120"/>
          <a:ext cx="1129284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554480"/>
                <a:gridCol w="2103120"/>
                <a:gridCol w="3703320"/>
                <a:gridCol w="1737360"/>
                <a:gridCol w="16459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화면ID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업무영역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프로그램ID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기준정보관리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작업표준관리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기준정보관리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MES-TD4-032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데이터통합관리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데이터조회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MES-TD4-034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데이터시각화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MES-TD3-036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다운로드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MES-TD4-036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AI학습 데이터관리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MES-TD3-038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 통합관리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AI질의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MES-TD4-038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 통합관리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생산/품질 분석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MES-TD3-040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 통합관리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의사결정 지원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MES-TD4-040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 통합관리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및 추천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MES-TD3-042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 통합관리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질문이력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MES-TD4-042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KPI관리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생산성 KPI 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MES-TD3-044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KPI관리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KPI 조회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MES-TD4-044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KPI관리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KPI 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MES-TD4-045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화면정의서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유형별 화면 권한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05840"/>
          <a:ext cx="1129284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유형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대시보드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수주견적AI관리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입고재고관리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출하물류관리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공정관리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기준정보·데이터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Agent·KPI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사용자/시스템관리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총괄PM/경영자 (제미애 대표)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조회/승인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조회/승인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조회/리포트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품질·RCMS 담당 (김재윤 대표)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조회/등록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등록/수정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등록/수정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공장장·생산관리 (주원중 공장장)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등록/수정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등록/수정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등록/수정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등록/수정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조회/검토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작업자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POP·패드 입력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POP·패드 입력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POP·패드 입력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질의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공급기업 운영담당 (주식회사 재일)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등록/수정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지원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관리자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계정/권한/로그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1480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레이아웃 규칙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07408"/>
            <a:ext cx="11292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헤더 (공통 적용) — 시스템명(경동글로벌텍 제조AI Solution), 화면명, 사용자명, 권한, 현재일시, 로그아웃을 표시한다.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좌측 메뉴 (권한별 노출) — 대시보드·견적AI·입고·공정·출하·기준·데이터·Agent·KPI·시스템 10개 메뉴를 제공하며 역할 권한에 따라 노출을 제한한다.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조회 조건 (상단 배치) — 프로젝트(수주)번호·기간·공정·LOT를 기본 조회 조건으로 하며 조건은 최대 6개까지 배치한다.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목록/그리드 (중앙 배치) — 페이징·정렬·필터·엑셀다운로드를 공통 적용하고 열은 최대 7개로 유지한다. 다운로드는 권한 통제 대상이다.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설명 패널 (우측 배치) — 화면 목적·처리 절차·연계 ID(요구사항/프로그램)·체크 사항을 표시한다.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AI 결과 표기 (공통 적용) — AI 산출값은 신뢰도와 근거(SHAP·참조 문서)를 함께 표시하고 검토 상태를 명시한다.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현황판 표출 (65인치 2대) — 카드·차트 중심의 대시보드 레이아웃을 사용하고 조회 조건 입력 없이 자동 갱신한다.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· 오류·알림 (공통 팝업) — 필수값 누락·중복·권한 오류·연계 실패를 팝업 메시지로 표시한다.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대시보드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463040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생산·품질·설비·출하 현황을 현황판과 관리자 Web에 실시간으로 표출하는 영역이다.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3D8F3"/>
                </a:solidFill>
                <a:latin typeface="맑은 고딕"/>
                <a:ea typeface="맑은 고딕"/>
                <a:cs typeface="맑은 고딕"/>
              </a:rPr>
              <a:t>화면 4건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AI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생산현황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1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AI 대시보드 &gt; 생산현황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현황판 2대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공정별 생산량·작업 진행률·설비 가동 상태를 실시간으로 시각화하여 전체 생산 흐름을 한눈에 파악한다.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기간·공정·프로젝트 조건 지정 → 실적/가동 집계 → 현황판·관리자 Web 표시 → 상세 화면 이동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패키지 기본 조회 기능을 경동글로벌텍 10개 공정 구성에 맞추어 수정 개발한다. 실시간 데이터는 Data Gateway 수집 범위(레이저커팅기 PLC·터치PC) 내에서만 표시한다.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927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기간·공정·프로젝트(수주)번호 조건으로 생산량과 작업 진행률을 집계한다.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레이저커팅기 PLC 수집 데이터로 설비 가동 상태를 표시한다.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현황판(65인치 2대)과 관리자 Web에 동일 지표를 표출한다.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지표 클릭 시 공정실적관리·공정이력조회 화면으로 이동한다.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AI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품질현황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2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AI 대시보드 &gt; 품질현황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현황판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LOT별 품질 상태 및 불량 발생 현황을 실시간으로 제공하여 품질 이상 여부를 즉시 확인한다.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기간·공정·제품군 조건 지정 → 검사결과·불량 집계 → 이상 LOT 표시 → 이력조회 화면 연계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품질 판정 기준은 기준정보관리의 품질기준 데이터를 따른다. 용접 비드 이미지 기반 품질 판정은 본 사업 범위가 아니다(사업계획서 2.5 현 사업 미적용).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801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LOT별 품질 상태와 불량 발생 현황을 실시간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품질 불량 트렌드를 기간별로 표시한다.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이상 발생 LOT에서 원자재 이력조회·공정이력조회로 이동한다.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판정 기준은 BAS_QUALITY_STANDARDS의 검사항목·기준값을 참조한다.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AI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설비상태 모니터링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AI 대시보드 &gt; 설비상태 모니터링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현황판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설비 가동률·상태·이상 알람을 실시간으로 수집·표시하고 비정상 패턴을 조기 감지한다.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PLC·터치PC 수집 → 가동상태·알람 판정 → 임계값 초과 시 알림 발생 → 이력 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613664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613664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수집 대상은 사업계획서 2.7.1의 데이터 집계 포인트 2개소(레이저커팅기 PLC 1지점·터치PC 1지점)로 한정한다. 설비 예지보전 AI는 본 사업 범위 밖이며 그 외 설비는 수집원이 없어 제외한다.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857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058664"/>
            <a:ext cx="2990088" cy="801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설비 가동률·가동 상태·이상 알람을 실시간 수집·표시한다.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비정상 패턴(임계값 초과·무신호) 감지 시 알림을 발생시킨다.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수집 지점별 통신 상태와 최종 수집 시각을 표시한다.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알림 기준과 수신 대상은 시스템설정(SYS_CONFIGS)의 알림 기준을 따른다.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AI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출하현황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AI 대시보드 &gt; 출하현황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현황판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출하 예정·완료·지연 물량을 실시간으로 관리하고 출하 일정과 생산 상태를 연계하여 납기 대응력을 강화한다.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기간·고객사·상태 조건 지정 → 출하 집계 → 납기 준수 현황 표시 → LOT 추적 상태 연계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납기 정보는 수주 확정 시점의 납기일을 기준으로 한다. 성과지표 '수주출하 리드타임'의 산출 근거 화면이므로 출하 시각과 수주 확정 시각이 모두 기록되어야 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출하 예정·완료·지연 물량을 실시간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납기 준수 현황과 LOT 추적 상태를 함께 표시한다.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출하 일정과 생산 진행 상태를 연계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수주 확정시각과 출하시각을 기록하여 수주출하 리드타임 산출 근거를 제공한다.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45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94664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SHP_SHIPMENTS, SHP_SHIPMENT_ITEMS, EST_PROJECTS, SHP_L 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입고재고관리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463040" cy="32004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원자재 입고 시 LOT·규격·중량을 등록하고 공급처 품질까지 추적하는 영역이다.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3D8F3"/>
                </a:solidFill>
                <a:latin typeface="맑은 고딕"/>
                <a:ea typeface="맑은 고딕"/>
                <a:cs typeface="맑은 고딕"/>
              </a:rPr>
              <a:t>화면 5건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입고재고관리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입고관리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5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입고재고관리 &gt; 입고관리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스마트패드, 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원자재 입고 시 LOT·규격·중량 정보를 등록하고 입고 이력과 연계하여 자재 흐름을 추적한다.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입고 목록조회 → 스마트패드 등록(LOT·규격·중량) → 필수값·중복 검증 → 저장 → 재고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현행 입고 데이터는 Excel 약 1천개와 종이 MTC로 관리되어 초기 이관 범위를 착수 시 확정해야 한다. LOT 채번 규칙은 기준정보관리 코드관리에서 정의한다.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입고 등록 시 자재 LOT·규격(재질·두께·길이)·중량을 등록한다.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입고 수정·삭제·조회를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입고 등록 결과를 재고(INV_STOCKS)에 반영한다.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MTC 재질성적서 번호와 검사 판정을 함께 기록한다.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45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94664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INV_RECEIPTS, INV_MATERIAL_LOTS, INV_STOCKS, INV_SUPPL 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입고재고관리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원자재 이력조회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6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입고재고관리 &gt; 원자재 이력조회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스마트패드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원자재 LOT 기준으로 입고~사용~출하 전 과정 이력을 조회하고 품질 이슈 시 영향 범위를 추적한다.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자재 LOT 검색 → 이력 목록 조회 → 연결 제품 LOT 추적 → 공급처 품질분석·클레임분석 연계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LOT 단위 추적은 입고·생산·출하 각 단계에서 LOT가 누락 없이 기록되어야 성립하며, LOT 기반 데이터 매핑 성공률 85% 이상을 확보해야 한다(2.7.4).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927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자재 LOT 기준으로 입고·투입·반출·반입·출하 이력을 시간순으로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품질 이슈 발생 시 해당 자재가 투입된 제품 LOT와 프로젝트를 역추적한다.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조회 결과를 공급처 품질분석·클레임분석 화면과 연계한다.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LOT 매핑 성공 여부를 표시하여 추적 단절 구간을 식별한다.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입고재고관리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입고 데이터관리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7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입고재고관리 &gt; 입고 데이터관리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입고 데이터의 정합성 검증과 표준화를 수행하고 ERP와 연계하여 자동 동기화한다.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입고 데이터 조회 → 정합성 검증(수량·품목·단위) → 표준화 규칙 적용 → ERP 연계 → 오류 재전송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613664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613664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ERP(이카운트) 연계는 API / DB 연동 방식으로 한다(2.5 ⓶). 다만 2.5 본문은 현행을 'EXCEL 중심'으로, 1.2·1.6·2.7.2는 ERP 보유로 기재하여 상충하므로 연계 대상과 실사용 범위는 착수 시 확정한다 — 담당자 확인 필요.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857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058664"/>
            <a:ext cx="2990088" cy="927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입고 데이터 등록 시 정합성 검증과 단위·코드 표준화를 수행한다.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입고 데이터 수정·삭제·조회를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ERP와 연계하여 입고 데이터를 자동 동기화하고 연계 이력을 관리한다.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연계 오류 건을 재전송하고 검증 결과를 데이터품질검증에 기록한다.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입고재고관리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공급처 품질분석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8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입고재고관리 &gt; 공급처 품질분석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공급처별 불량률·품질 편차·납품 이력을 분석하여 공급처를 평가하고 리스크가 높은 공급처를 사전 식별한다.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평가 기간 지정 → 입고·검사 데이터 집계 → 불량률·편차·납기 준수율 산출 → 등급 부여 → 리포트 출력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361696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361696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현행 공급처 품질 데이터는 수기 검사 기록과 MTC 문서로만 존재하므로 분석 신뢰도는 누적 데이터 확보 이후 확보된다.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6055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806696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공급처별 불량률과 품질 편차를 산출한다.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납품 이력 기반 공급처 평가 리포트를 출력한다.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품질 리스크가 높은 공급처를 관리 대상으로 표시한다.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클레임 원인분석 결과를 공급처 평가에 반영한다.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493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694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INV_SUPPLIER_QUALITY, INV_SUPPLIERS, INV_RECEIPTS, SHP_CLAIM_CAUSES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입고재고관리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입고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9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4E8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입고재고관리 &gt; 입고 AI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스마트패드, 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RAG 기반 AI Agent가 입고 기준서·검사 기준·과거 이력을 검색하여 입고 품질 판단을 자연어로 지원한다.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입고 스캔 → LOT 번호 조회 → 자연어 질의 → Vector DB 검색 → 기준 비교·이상 여부 판단 → 생산 연계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AI는 설비를 직접 제어하지 않고 조회·분석·추천·경고 중심의 의사결정 지원형으로 적용한다. RAG AI Agent는 내부 데이터만 접근 가능한 폐쇄형 구조로 설계한다(9.2).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E8F43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801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작업자가 자연어로 LOT 이력과 검사 기준을 질의한다.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입고 기준서·자재 검사 기준서·공급사 평가 이력·품질 대응 매뉴얼을 Vector DB에서 검색한다.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자재 품질 판정, 공급처 분석, 작업 가이드를 출력한다.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질의 내용과 응답 결과를 이력으로 저장하여 재학습에 활용한다.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수주견적AI관리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463040" cy="32004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CAD 도면을 분석해 견적과 BOM을 자동 산출하는 AI 영역이다. 산출값은 신뢰도와 근거를 함께 표시한다.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3D8F3"/>
                </a:solidFill>
                <a:latin typeface="맑은 고딕"/>
                <a:ea typeface="맑은 고딕"/>
                <a:cs typeface="맑은 고딕"/>
              </a:rPr>
              <a:t>화면 6건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수주견적AI관리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CAD 도면분석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10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수주견적AI관리 &gt; CAD 도면분석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DWG/PDF 도면에서 객체·치수·형상 정보를 자동 추출하며 CAD Parsing과 Vision AI를 병렬 적용한다.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도면 업로드/배치 수집 → Autodesk API Parsing → Vision AI(YOLOv8+OCR) 병렬 인식 → 정합성 검증 → Confidence Score 산출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095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264660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264660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296664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CAD 객체 인식 정확도 80% 이상(IoU 0.5 기준 Precision·Recall·F1)을 목표로 한다. 학습 데이터는 도면 1,283건이며 파일명 중복 183건·0KB 손상 4건을 제외한 후 사용한다.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857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058664"/>
            <a:ext cx="2990088" cy="1053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CAD 도면(DWG/CAD/DXF/PDF)을 업로드하거나 배치로 수집한다.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Autodesk API 기반 Parsing으로 객체 구조 데이터를 추출한다.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Vision AI(YOLOv8 + OCR)로 이미지 기반 객체·텍스트를 보완 인식한다.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Parsing 결과와 Vision 결과의 정합성을 검증하고 객체별 Confidence Score를 산출한다.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수주견적AI관리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객체인식 결과관리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11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수주견적AI관리 &gt; 객체인식 결과관리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인식된 객체(홀·슬롯·길이·형상 등)를 데이터화하여 도면별 Feature로 저장하고 견적에 활용한다.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인식 결과 조회 → 시각 검증(Human-in-the-loop) → 수정·승인 → Feature 생성 → 재학습 데이터 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작업자 검토 기반 Human-in-the-loop을 적용하여 AI 결과를 즉시 확정하지 않는다(2.6 4)). 수정 이력은 모델 재학습 데이터로 축적한다.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927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객체 인식 결과를 등록한다(홀/슬롯/길이/형상 Feature 데이터화).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인식 결과를 시각적으로 검증하고 수정한다(Human-in-the-loop).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결과 삭제 및 도면별 Feature 조회를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수정 전·후 값과 사유를 검증이력에 기록하여 재학습에 반영한다.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수주견적AI관리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견적자동산출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12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수주견적AI관리 &gt; 견적자동산출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Feature·원자재 단가·공정 데이터를 기반으로 XGBoost 모델이 공정별 원가와 총 견적을 자동 산출한다.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도면 Feature 선택 → 단가·공정 데이터 결합 → XGBoost 산출 → 공정별 원가 확인 → 검토·승인 → 견적서 출력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613664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613664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견적 산출 정확도 ±5% 이내(MAPE·MAE 기준)를 목표로 한다. 학습 Label은 과거 견적 Excel(약 5천개)과 실제 제조원가로 정제한다. Confidence Score 기준으로 자동 견적과 검토 견적을 분류한다.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857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058664"/>
            <a:ext cx="2990088" cy="801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Feature + 원자재단가 + 공정데이터를 입력하여 견적을 자동 산출한다.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견적 수정·삭제를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공정별 원가 및 총 견적 리포트를 출력한다.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Confidence Score 기준으로 자동 견적과 검토 견적을 분류한다.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수주견적AI관리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BOM자동생성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13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수주견적AI관리 &gt; BOM자동생성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도면 객체 관계를 기반으로 자재 및 공정 구조를 자동 생성하여 생산 계획과 자재 소요량 산출에 활용한다.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도면 선택 → Rule 기반 초기 구성 → GNN 관계 추론 확장 → 다단계 전개 → 자재 소요량 산출 → 확정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361696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361696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BOM 생성 정확도 85% 이상(기준 BOM 대비 항목 단위 Precision·Recall·F1)을 목표로 한다. 순환 참조를 허용하지 않는다.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6055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806696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도면 객체 관계로부터 자재·공정 구조를 자동 생성한다(Rule 기반 + GNN 확장).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BOM 수정·삭제를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다단계 전개 및 자재 소요량을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순환 참조 여부를 검증하고 위반 시 저장을 차단한다.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619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820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EST_BOM_HEADERS, EST_BOM_ITEMS, EST_BOM_ROUTINGS, EST_MATERIAL_REQS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수주견적AI관리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ML분석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14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수주견적AI관리 &gt; ML분석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과거 견적 및 생산 데이터를 학습하여 원가 패턴을 분석하고 견적 정확도 향상을 위한 모델 개선을 수행한다.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학습 데이터셋 선택 → 학습 설정 등록 → 학습 실행 → 검증 성능 비교 → 배포 여부 결정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Train / Validation / Test 데이터셋 분리 기준을 적용하여 과적합을 사전 검증한다(2.7.4 ⓸). 데이터 분포·편향(제품군·재질·두께 기준)을 검증한 후 학습에 투입한다.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과거 견적·생산 데이터를 학습 대상으로 등록한다.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학습 설정 수정·삭제를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모델 개선 결과(성능 지표·과적합 판정)를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결과 데이터를 데이터관리시스템에 축적하고 재학습에 반영한다.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45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94664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EST_ML_MODELS, EST_ML_TRAIN_RUNS, EST_ML_PREDICTIONS 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수주견적AI관리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영향요인분석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15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수주견적AI관리 &gt; 영향요인분석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SHAP 기반으로 견적·품질에 영향을 미치는 주요 변수를 도출하고 공정 조건·원가 최적화 전략을 제시한다.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예측 결과 선택 → SHAP 산출 → Top-N 변수 표시 → 전문가 평가 비교 → 최적화 전략 리포트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설명가능성 신뢰도 90% 이내를 목표로 하며 SHAP 변수 중요도 Top-N을 전문가 평가와 비교하여 일치율 또는 Spearman ρ로 검증한다(2.6).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영향요인 분석 결과(SHAP)를 등록한다.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분석 결과 수정·삭제를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SHAP 기반 최적화 전략 리포트를 출력한다.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'왜 이 견적인지'에 대한 근거를 견적 화면에 자동 제공한다.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45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FC0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94664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EST_SHAP_FACTORS, EST_ML_PREDICTIONS, EST_QUOTATIONS 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출하물류관리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463040" cy="32004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출하 실적과 LOT 추적, 출하검사 결과와 클레임을 관리하는 영역이다.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3D8F3"/>
                </a:solidFill>
                <a:latin typeface="맑은 고딕"/>
                <a:ea typeface="맑은 고딕"/>
                <a:cs typeface="맑은 고딕"/>
              </a:rPr>
              <a:t>화면 5건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출하물류관리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출하관리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16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출하물류관리 &gt; 출하관리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스마트패드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고객사·출하일자·출하수량·납기정보를 관리하고 ERP 데이터를 연계하여 출하 지시와 실적을 통합 관리한다.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출하 목록조회 → 출하 등록(고객사·출하일·수량·납기) → 검사 합격 검증 → 출하 승인 → ERP 연계 → 실적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ERP(이카운트) 연계 방식은 API / DB 연동으로 한다. 현행 출하 이력은 Excel 약 1천개와 수기 납품 증빙으로 관리되어 초기 이관 범위 확정이 필요하다.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801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출하 등록 시 고객사·출하일·수량·납기를 등록하고 ERP와 연계한다.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출하 수정·삭제·조회를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출하 지시와 출하 실적을 통합 관리한다.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출하 시각을 기록하여 수주출하 리드타임 산출 근거를 남긴다.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출하물류관리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LOT추적관리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17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출하물류관리 &gt; LOT추적관리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현장POP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제품 LOT 기준으로 생산부터 출하까지 전 과정 이력을 추적하고 클레임 발생 시 공정·품질 이력을 즉시 조회한다.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제품 LOT 등록·연결(자재 LOT·작업지시·BOM) → 공정 진행에 따른 상태 갱신 → 전 과정 이력 조회 → 클레임 역추적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수주–CAD–BOM–생산–설비–품질–출하로 연결되는 디지털 스레드 구조를 전제로 한다. LOT 기반 데이터 매핑 성공률 85% 이상을 확보해야 한다(2.7.4).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생산~출하 전 과정을 제품 LOT 단위로 연결한다.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LOT 추적 수정·삭제를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LOT별 전 과정 이력을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클레임 발생 시 해당 LOT의 공정 및 품질 이력을 즉시 조회한다.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45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94664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SHP_LOT_TRACES, INV_MATERIAL_LOTS, PRC_PROCESS_HISTORI 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출하물류관리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검사결과관리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18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출하물류관리 &gt; 검사결과관리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스마트패드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출하 전 품질검사 결과와 불량 여부를 관리하고 검사 합격 LOT만 출하 가능하도록 통제한다.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검사기준 조회 → 수압·기밀·진공 시험 결과 등록 → 기준값 대비 판정 → 합격 LOT 출하 가능 전환 → 불합격 원인 추적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현행 시험 결과는 개별 문서로 관리되어 통합되어 있지 않으므로 검사 항목 표준화가 선행되어야 한다. 판정 기준은 기준정보관리의 품질기준 데이터를 따른다.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출하 전 품질검사(수압·기밀·진공) 결과를 등록한다.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검사결과 수정·삭제·조회를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검사 합격 LOT만 출하 가능하도록 제어한다.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불합격 사유와 성적서 번호를 기록하고 원인 공정 추적으로 연계한다.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45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94664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SHP_INSPECTIONS, BAS_QUALITY_STANDARDS, SHP_LOT_TRACES 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출하물류관리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클레임분석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19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출하물류관리 &gt; 클레임분석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고객 클레임 데이터를 수집·분석하여 원인 공정 및 영향 요인을 식별하고 반복 이슈 기반 품질 개선을 지원한다.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클레임 접수 등록 → LOT 역추적 → 원인 공정·영향 요인 식별 → 반복 발생 여부 판정 → 개선·예방 전략 리포트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현행 클레임 원인분석은 1~2일 이상 소요되며 클레임 이력이 문서로만 존재하여 초기 데이터가 부족하다. 누적 데이터 확보 후 분석 신뢰도가 확보된다.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고객 클레임 데이터를 수집·등록한다.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원인 공정 및 영향 요인을 식별한다.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반복 발생 이슈 기반 품질 개선·예방 전략 리포트를 출력한다.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분석 결과를 공급처 품질분석과 연계한다.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45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94664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SHP_CLAIMS, SHP_CLAIM_CAUSES, SHP_LOT_TRACES, SHP_INSP 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출하물류관리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출하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20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D7A30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출하물류관리 &gt; 출하 AI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스마트패드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출하 기준서·품질 기준·검사 결과·클레임 이력을 기반으로 출하 가능 여부와 대응 가이드를 자연어로 제공한다.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출하 요청 → LOT 번호 조회 → 품질 검증 → 자연어 질의 → 승인 판단 지원 → 대응 가이드 제시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AI는 출하를 자동 승인하지 않고 승인 판단을 지원한다. 관리자가 검토·수정·승인한 결과만 운영에 반영한다(2.5 방법론 ⑤). RAG AI Agent는 폐쇄형 구조로 설계한다.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8B86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801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자연어 질의를 통해 출하 리스크를 확인한다.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출하 기준서·품질 기준서·클레임 대응 매뉴얼을 Vector DB에서 검색한다.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출하 승인 결과, LOT 번호, 클레임 분석 결과를 출력한다.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질의·응답 이력을 저장하고 승인 권한자에게 판단 근거를 제공한다.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463040" cy="32004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10개 공정의 실적·작업조건·이력을 수집하고 분석하는 영역이다.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3D8F3"/>
                </a:solidFill>
                <a:latin typeface="맑은 고딕"/>
                <a:ea typeface="맑은 고딕"/>
                <a:cs typeface="맑은 고딕"/>
              </a:rPr>
              <a:t>화면 5건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공정관리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공정실적관리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21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공정관리 &gt; 공정실적관리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현장POP, 스마트패드, 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공정별 생산 실적 및 작업 이력을 수집하여 생산성과 효율성을 분석하고 목표 대비 실적을 비교한다.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작업지시 확인 → 실적 등록(자동 수집 또는 POP 입력) → 불량 수량·유형 기록 → 목표 대비 비교 → 이력 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613664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613664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자동 수집 대상은 신규 레이저커팅기 PLC 1지점과 터치PC 1지점이며 그 외 공정 실적은 터치PC·스마트패드 수동 입력에 의존한다(2.7.1). 패키지 기본 기능을 경동글로벌텍 공정 구성에 맞추어 수정 개발한다.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857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058664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공정실적(작업이력·생산성 데이터)을 등록한다.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공정실적 수정·삭제를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목표 대비 실적을 비교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자동 수집(PLC)과 수동 입력(POP·패드) 실적을 구분하여 기록한다.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공정관리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데이터 모니터링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22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공정관리 &gt; 공정 데이터 모니터링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현황판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속도·압력·전류·온도 등 공정 데이터를 실시간 모니터링하고 이상 발생 시 즉시 알림을 제공한다.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PLC 수집 → Data Gateway 전송 → 시계열 적재 → 임계값 비교 → 이상 시 알림 발생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613664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613664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수집 가능한 공정 데이터는 신규 도입 레이저커팅기 PLC에 한정된다. 기존 설비의 IoT 수집과 이를 활용한 품질 예측·예지보전 AI는 사업계획서 2.5에서 '현 사업 미적용'으로 명시되어 포함하지 않는다.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857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058664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속도·압력·전류·온도 등 공정 데이터를 실시간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이상 발생 시 알림을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수집 경로(PLC → Data Gateway → 데이터관리시스템)의 상태를 표시한다.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결측·노이즈 데이터를 품질 플래그로 구분한다.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공정관리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작업조건관리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23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공정관리 &gt; 작업조건관리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현장POP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공정별 표준 작업 조건을 관리하고 실제 작업 데이터와 비교 분석하여 작업 편차를 최소화한다.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표준 조건 등록 → 실측값 수집(PLC·POP) → 편차 산출 → 허용범위 초과 시 알림 → 조치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현행 작업 조건은 작업자 경험으로 전파되고 문서화되어 있지 않아 표준 작업 조건의 초기 정의는 도입기업이 제공해야 한다 — 담당자 확인 필요.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공정별 표준 작업 조건을 표준화하여 등록한다.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작업조건 수정·삭제를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표준 조건과 실제 작업 데이터를 비교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허용범위 초과 편차에 대해 알림을 발송하고 조치 내용을 기록한다.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45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94664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PRC_STD_CONDITIONS, PRC_ACTUAL_CONDITIONS, PRC_CONDITI 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공정관리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공정이력조회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24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공정관리 &gt; 공정이력조회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현장POP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LOT 기준으로 공정 진행 이력을 조회하여 생산 과정의 투명성을 확보하고 품질 문제 발생 시 원인 공정을 추적한다.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제품 LOT 검색 → 공정별 진입·종료 시각 조회 → 체류 시간 산출 → 원인 공정 추적 → 클레임분석 연계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LOT가 각 공정 단계에서 누락 없이 기록되어야 조회가 성립한다. 외주 공정(소재가공·버핑) 구간은 외주처 실적 회신이 없으면 이력이 단절된다.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LOT 기준으로 공정 진행 이력을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품질 문제 발생 시 원인 공정을 추적한다.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LOT추적관리·클레임분석과 연계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외주 구간의 이력 단절 여부를 표시한다.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619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820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PRC_PROCESS_HISTORIES, SHP_LOT_TRACES, PRC_PERFORMANCES, PRC_WORK_ORDERS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공정관리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공정데이터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25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공정관리 &gt; 공정데이터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공정조건·생산실적·품질 결과를 통합 분석하여 공정별 수율·불량률·병목 원인을 도출한다.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분석 기간·공정 지정 → 실적·이력·편차·검사 결합 → 수율·불량률·체류시간 산출 → 병목 판정 → 리포트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361696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361696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현행은 공정별 체류시간과 병목 구간 파악이 불가능한 상태이므로 분석 정확도는 공정 실적 입력 성실도에 좌우된다.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6055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806696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공정조건·생산실적·품질 결과를 통합 분석한다.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공정별 수율·불량률·병목 원인 리포트를 출력한다.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분석 결과를 성과지표(제조 리드타임) 개선 근거로 활용한다.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체류시간 상위 공정을 병목으로 표시한다.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619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8802A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820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PRC_PROCESS_HISTORIES, PRC_PERFORMANCES, PRC_CONDITION_DEVIATIONS, SHP_INSPECTIONS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사용자/시스템관리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463040" cy="32004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계정과 권한, 로그와 알림, 시스템 설정을 관리하는 영역이다.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3D8F3"/>
                </a:solidFill>
                <a:latin typeface="맑은 고딕"/>
                <a:ea typeface="맑은 고딕"/>
                <a:cs typeface="맑은 고딕"/>
              </a:rPr>
              <a:t>화면 4건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사용자/시스템관리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26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67081"/>
                </a:solidFill>
                <a:latin typeface="맑은 고딕"/>
                <a:ea typeface="맑은 고딕"/>
                <a:cs typeface="맑은 고딕"/>
              </a:rPr>
              <a:t>기존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사용자/시스템관리 &gt; 사용자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사용자 권한 및 계정을 관리하고 역할 기반 접근 제어(RBAC)로 시스템 보안을 강화한다.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사용자 목록조회 → 등록(역할 지정) → 권한 매핑 → 저장 → 접속 로그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613664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613664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패키지 기본 기능을 수정 없이 재사용한다(FP산정리스트 '수정없이 재사용'). 비밀번호 복잡도 및 주기적 변경 정책을 적용한다(9.2 ②). 사용자명·연락처·이메일은 개인정보로 암호화·마스킹 대상이다.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857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058664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사용자 등록(RBAC 역할 지정)·수정·삭제·조회를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관리자·생산관리자·품질관리자·현장작업자 역할별 계정을 분리 운영한다.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최소 권한 원칙을 적용하여 화면·기능 접근을 제한한다.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비밀번호 복잡도와 변경 주기 정책을 적용한다.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사용자/시스템관리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로그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27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67081"/>
                </a:solidFill>
                <a:latin typeface="맑은 고딕"/>
                <a:ea typeface="맑은 고딕"/>
                <a:cs typeface="맑은 고딕"/>
              </a:rPr>
              <a:t>기존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사용자/시스템관리 &gt; 로그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시스템 사용 이력 및 작업 로그를 기록하여 문제 발생 시 원인을 추적한다.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기간·구분·사용자 조건 지정 → 로그 조회 → 감사추적 확인 → 로그 다운로드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361696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361696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패키지 기본 기능을 수정 없이 재사용한다. 접근 로그 기록·모니터링은 사업계획서 9.2 ③의 보안 요구를 충족해야 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6055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806696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로그 조회(감사추적)를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로그 다운로드를 제공하며 다운로드 이력을 기록한다.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접근 로그를 기록·모니터링한다.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오류 로그의 메시지와 발생 화면을 함께 표시한다.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493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연계 테이블 3종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694680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SYS_ACCESS_LOGS, SYS_USERS, DAT_DOWNLOAD_LOGS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사용자/시스템관리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알림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28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67081"/>
                </a:solidFill>
                <a:latin typeface="맑은 고딕"/>
                <a:ea typeface="맑은 고딕"/>
                <a:cs typeface="맑은 고딕"/>
              </a:rPr>
              <a:t>기존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사용자/시스템관리 &gt; 알림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알림 기준 및 수신 대상을 설정하여 사용자 맞춤 알림을 제공한다.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알림 기준 조회 → 조건·임계값 등록 → 수신 대상 지정 → 채널 선택 → 저장·테스트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패키지 기본 기능을 수정 없이 재사용한다. FP산정리스트의 단위프로세스명은 '알림설정', 설명 열은 '알림 기준 등록/수정/조회'로 표기가 다르나 동일 기능이다.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알림 기준 등록·수정·조회를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수신 대상을 역할 또는 사용자별로 지정한다.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설비 이상·납기 경고·품질 이상 알림과 연계한다.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알림 채널(화면·현황판·스마트패드)을 선택한다.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619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연계 테이블 3종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820664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SYS_CONFIGS, SYS_USERS, AGT_RECOMMENDATIONS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사용자/시스템관리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시스템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29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67081"/>
                </a:solidFill>
                <a:latin typeface="맑은 고딕"/>
                <a:ea typeface="맑은 고딕"/>
                <a:cs typeface="맑은 고딕"/>
              </a:rPr>
              <a:t>기존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사용자/시스템관리 &gt; 시스템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시스템 환경 설정 및 인터페이스를 관리하여 운영 최적화를 지원한다.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설정 조회 → 값 등록·수정 → 인터페이스 연계 정보 설정 → 연계 테스트 → 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613664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613664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패키지 기본 기능을 수정 없이 재사용한다. 외부 인터페이스 4종(ERP 연계·IoT/PLC·CAD 파일·외부 표준문서)은 FP산정리스트에서 EIF로 별도 산정되어 있으며 모두 '수정없이 재사용'으로 분류되어 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857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058664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시스템 설정 등록·수정·조회를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인터페이스(ERP·IoT/PLC·CAD·외부 문서) 연계 설정을 관리한다.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수집 장비 등록 정보(프로토콜·수집 주기)를 관리한다.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접속 정보 등 민감 항목은 암호화하여 저장한다.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기준정보관리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463040" cy="32004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품질기준·작업표준·공통코드 등 전 화면이 참조하는 기준 데이터 영역이다.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3D8F3"/>
                </a:solidFill>
                <a:latin typeface="맑은 고딕"/>
                <a:ea typeface="맑은 고딕"/>
                <a:cs typeface="맑은 고딕"/>
              </a:rPr>
              <a:t>화면 3건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기준정보관리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품질기준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30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기준정보관리 &gt; 품질기준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제품별 품질 기준 및 검사 기준을 관리하여 품질 판정 기준 데이터로 활용한다.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품질기준 조회 → 제품군·검사항목별 기준값 등록 → 적용 규격(ASME·KS) 지정 → 저장 → 검사결과관리 연계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613664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613664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패키지 기본 기능을 경동글로벌텍의 ASME·KS 인증 기준 및 수압·기밀·진공 시험 항목에 맞추어 수정 개발한다. 현행 검사 기준서는 문서로만 존재하므로 초기 기준 데이터는 도입기업이 제공해야 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857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058664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제품별 검사 기준(항목·기준값 상하한·단위)을 등록한다.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품질기준 수정·삭제·조회를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검사결과관리·품질현황 분석의 판정 기준으로 사용한다.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적용 시작일 기준으로 기준 변경 이력을 관리한다.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45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연계 테이블 3종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94664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BAS_QUALITY_STANDARDS, BAS_COMMON_CODES, SHP_INSPECTIONS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기준정보관리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작업표준관리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31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기준정보관리 &gt; 작업표준관리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현장POP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공정별 작업 절차 및 조건을 표준화하여 작업자 간 편차를 최소화한다.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작업표준 조회 → 절차·표준 공수·자격 요건 등록 → 문서 첨부 → Vector DB 임베딩 등록 → 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패키지 기본 기능을 경동글로벌텍 공정에 맞추어 수정 개발한다. 현행 작업표준은 작업자 경험으로 전파되고 있어 초기 표준 정의가 선행되어야 한다 — 담당자 확인 필요.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작업표준 등록·수정·삭제·조회를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공정별 작업 절차와 조건을 표준화하여 관리한다.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작업표준서(SOP)를 Vector DB 임베딩 대상으로 연계한다.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표준 공수와 자격 요건(WPS·PQR·용접사 자격)을 관리한다.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619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820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BAS_WORK_STANDARDS, BAS_COMMON_CODES, PRC_STD_CONDITIONS, AGT_VECTOR_DOCS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기준정보관리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코드관리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32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6B7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기준정보관리 &gt; 코드관리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품목·공정·설비 코드 등 기준 정보를 관리하여 데이터 정합성을 확보한다.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코드 그룹 선택 → 코드 등록(중복 검증) → 상위 코드 지정 → 속성값 등록 → 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패키지 기본 기능을 수정 개발한다. 재질·두께·길이(mm)·중량(kg)·고객사 코드 등 표준화 항목은 사업계획서 2.7.3 '데이터 변환' 기준을 따른다. 코드는 중복될 수 없다.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공통코드(품목/공정/설비/재질/고객사)를 등록한다.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공통코드 수정·삭제·조회를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LOT 채번 규칙과 고객사 코드 표준을 관리한다.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코드 그룹 내 코드 중복을 차단한다.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619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483"/>
                </a:solidFill>
                <a:latin typeface="맑은 고딕"/>
                <a:ea typeface="맑은 고딕"/>
                <a:cs typeface="맑은 고딕"/>
              </a:rPr>
              <a:t>연계 테이블 2종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820664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BAS_COMMON_CODES, SYS_CONFIGS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463040" cy="32004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수집 데이터를 통합·조회·시각화하고 AI 학습 데이터를 관리하는 영역이다.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3D8F3"/>
                </a:solidFill>
                <a:latin typeface="맑은 고딕"/>
                <a:ea typeface="맑은 고딕"/>
                <a:cs typeface="맑은 고딕"/>
              </a:rPr>
              <a:t>화면 5건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데이터관리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데이터통합관리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33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데이터관리 &gt; 데이터통합관리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ERP·IoT·공정 데이터를 통합하여 단일 데이터 저장소를 구축하고 데이터 정합성을 확보한다.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수집 대상 등록 → 통합 작업(ETL) 설정 → 스케줄 실행 → 실행 로그 확인 → 품질 검증 결과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613664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613664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정형(수주/생산/재고/품질) + 시계열(설비/공정) + 비정형(CAD/문서/이미지)을 모두 수용해야 한다. ERP 연계 대상과 실사용 범위는 사업계획서 내 서술이 상충하므로 착수 시 확정한다 — 담당자 확인 필요.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857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058664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ERP/IoT/공정 데이터 수집 대상을 등록한다.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통합 설정(변환 규칙·스케줄·적재 대상)을 수정한다.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데이터 통합 상태를 모니터링하고 실행 로그를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Data Lake + Streaming + ETL + 시계열DB 구성으로 적재한다.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데이터관리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34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데이터관리 &gt; 데이터조회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LOT 기준으로 데이터를 조회·분석하여 생산 이력을 확인하고 공정–품질–출하 데이터 연계 분석을 지원한다.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LOT·기간·공정 조건 지정 → 정형·시계열·비정형 통합 조회 → 연계 분석 → 결과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361696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361696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데이터 연계율 85% 이상(연결된 데이터 ÷ 전체 데이터 × 100)을 확보해야 한다(2.7.4 유효성 검증 항목 ⓷).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6055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806696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LOT 기준으로 데이터를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공정–품질–출하 데이터를 연계 분석한다.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조회 조건을 LOT/공정/품질/출하 단위로 지정한다.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연계되지 않은 데이터를 별도 표시하여 연계율을 관리한다.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493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694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DAT_TIMESERIES, DAT_LAKE_OBJECTS, SHP_LOT_TRACES, DAT_QUALITY_CHECKS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데이터관리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데이터시각화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35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데이터관리 &gt; 데이터시각화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현황판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다양한 그래프 및 대시보드를 통해 데이터 트렌드를 시각화하고 의사결정에 필요한 인사이트를 제공한다.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시각화 대상 선택 → 기간·조건 지정 → 차트 생성 → 관리자 Web·현황판 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361696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361696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패키지 기본 시각화 기능을 경동글로벌텍 KPI 항목(생산량·설비 가동률·납기 현황·원가 추이)에 맞추어 수정 개발한다.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6055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806696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데이터 트렌드를 그래프·대시보드로 출력한다.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관리자 Web과 현황판에 동일 시각화를 표시한다.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시각화 대상은 생산량·설비 가동률·납기 현황·원가 추이를 포함한다.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차트별 조회 조건을 저장하여 재사용한다.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619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820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DAT_TIMESERIES, KPI_MEASURES, PRC_PERFORMANCES, EST_QUOTATIONS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데이터관리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다운로드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36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데이터관리 &gt; 데이터 다운로드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분석 데이터를 Excel·CSV 등으로 다운로드하여 추가 분석과 외부 보고에 활용한다.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조회 조건 지정 → 권한 확인 → 파일 형식 선택 → 다운로드 → 이력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361696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361696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CAD 도면·견적·BOM·원가 정보는 핵심 지적 자산이므로 데이터 반출 기준과 권한 통제를 적용한다(9.2 ①).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6055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806696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조회·분석 결과를 Excel/CSV로 다운로드한다.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다운로드 이력을 로그로 기록한다.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데이터 구분별 반출 권한을 검증한다.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미승인 구분의 다운로드 요청을 차단한다.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493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연계 테이블 3종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694680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DAT_DOWNLOAD_LOGS, SYS_ROLE_PERMISSIONS, SYS_USERS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데이터관리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AI학습 데이터관리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37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6B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데이터관리 &gt; AI학습 데이터관리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ML 모델 학습용 데이터셋을 관리·갱신하여 데이터 품질을 향상시킨다.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데이터셋 등록 → 중복·결측·이상치 전처리 → Train/Validation/Test 분할 → 분포·편향 검증 → 확정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613664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613664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[분석 산출] 초기 학습 대상 CAD 도면 1,283건 중 파일명 중복 183건(14.3%)과 0KB 손상 4건을 제외해야 한다. 제품별 도면 수 편차(최대 184·최소 1·중앙값 5)로 인한 학습 데이터 불균형 검증이 필요하다.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857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58A8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058664"/>
            <a:ext cx="2990088" cy="801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AI 학습 데이터 등록·수정·삭제·조회를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Train / Validation / Test 데이터셋 분리 기준을 적용한다.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중복 제거(도면번호+버전+고객사 기준), 결측치 보정, 이상치 제거를 수행한다.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제품군·재질·두께 기준 분포·편향 검증 결과를 기록한다.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Agent 통합관리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463040" cy="32004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자연어 질의로 생산·품질을 분석하고 의사결정을 지원하는 RAG 기반 Agent 영역이다.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3D8F3"/>
                </a:solidFill>
                <a:latin typeface="맑은 고딕"/>
                <a:ea typeface="맑은 고딕"/>
                <a:cs typeface="맑은 고딕"/>
              </a:rPr>
              <a:t>화면 5건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AI Agent 통합관리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AI질의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38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AI Agent 통합관리 &gt; 통합 AI질의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스마트패드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자연어로 생산·품질·출하 등 전 공정 정보를 조회할 수 있도록 통합 질의 기능을 제공한다.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자연어 질의 입력 → Vector DB + 운영 DB 병합 검색 → 응답 생성 → 근거 문서 표시 → 이력 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RAG 기반 AI Agent는 내부 데이터만 접근 가능한 폐쇄형 구조로 설계하고 사용 로그를 기록·관리한다(9.2 ⑤). AI는 의사결정 지원형으로만 적용한다.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801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자연어 질의로 생산·품질·출하 전 공정 정보를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Vector DB + RAG 구조로 정형·비정형 데이터를 함께 검색한다.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질의 예시('이 도면 견적 왜 이렇게 나왔고 가장 비싼 공정은?', '이번 주 납기 위험 있는 출하건 있어요?')를 지원한다.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응답 근거 문서와 참조 데이터를 함께 표시한다.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AI Agent 통합관리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생산/품질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39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AI Agent 통합관리 &gt; 생산/품질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AI가 데이터를 자동 분석하여 문제점 및 개선 방향을 제시하고 관리자 의사결정을 지원한다.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분석 실행 → 생산·품질 데이터 자동 분석 → 문제점·개선 방향 도출 → 관리자 검토 → 승인 후 운영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361696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361696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AI 결과는 즉시 본운영에 일괄 반영하지 않고 시범운영 기간 동안 실제 작업 결과와 비교 검증한다(2.5 방법론 ⑤).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6055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806696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생산·품질 데이터를 자동 분석한다.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문제점 및 개선 방향 리포트를 출력한다.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분석 결과는 관리자 검토 후 운영에 반영한다.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검토 상태(미검토/승인/수정/반려)를 관리한다.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493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694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AGT_RECOMMENDATIONS, PRC_PERFORMANCES, SHP_INSPECTIONS, PRC_CONDITION_DEVIATIONS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AI Agent 통합관리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의사결정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40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AI Agent 통합관리 &gt; 의사결정 지원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공정 및 품질 관련 의사결정을 위한 추천 정보를 제공하여 AI 기반 판단을 지원한다.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대상 선택 → 조건 기반 추천 생성 → 근거 확인 → 관리자 검토·수정 → 승인 후 운영계획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361696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361696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AI를 설비 직접 제어형으로 적용하지 않는다(2.5 방법론 개요). 추천 반영률과 예측오차를 지속 모니터링한다.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6055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806696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조건 기반 공정 최적 셋업값을 추천한다.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납기 리스크 분석과 대응 제안을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관리자가 추천값을 검토·수정·승인할 수 있으며 승인된 결과만 운영계획에 반영한다.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추천 반영률과 예측 오차를 집계한다.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619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820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AGT_RECOMMENDATIONS, EST_ML_PREDICTIONS, PRC_STD_CONDITIONS, EST_PROJECTS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AI Agent 통합관리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알림 및 추천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41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AI Agent 통합관리 &gt; 알림 및 추천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현황판, 스마트패드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이상 발생 시 알림과 개선 조건 추천을 제공하여 실시간 대응 체계를 구축한다.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이벤트 감지 → 알림 기준 대조 → 알림 발송(화면·현황판·스마트패드) → 개선 조건 추천 → 확인 처리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알림 대상 데이터는 수집 가능한 범위(레이저커팅기 PLC·터치PC·시스템 입력값)에 한정된다. 알림 기준과 수신 대상은 사용자/시스템관리의 알림 설정을 따른다.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이상 발생 시 알림을 출력한다.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개선 조건을 추천한다.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알림 기준과 수신 대상은 사용자/시스템관리의 알림 설정을 따른다.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알림 확인 여부와 조치 결과를 기록한다.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45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94664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AGT_RECOMMENDATIONS, SYS_CONFIGS, PRC_EQUIP_SIGNALS, S …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AI Agent 통합관리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질문이력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42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AI Agent 통합관리 &gt; 사용자 질문이력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사용자 질의 내용을 저장하여 반복 학습 및 개선에 활용하고 AI 성능을 지속 향상시킨다.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질의 이력 조회 → 응답 품질 확인 → 개선 대상 선별 → 프롬프트 개선·문서 보강·재학습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361696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361696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질의 로그에는 CAD 도면·견적·원가 등 핵심 정보가 포함될 수 있으므로 접근 권한을 통제하고 외부 반출을 금지한다.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6055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806696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사용자 질의 내용과 응답 결과를 저장한다.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질문이력을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AI 질의 로그를 기반으로 프롬프트 개선·문서 보강·모델 재학습을 수행한다.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권한 없는 사용자의 이력 조회를 차단한다.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619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연계 테이블 3종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820664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AGT_QUERY_LOGS, SYS_USERS, AGT_VECTOR_DOCS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KPI관리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463040" cy="32004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성과지표를 산출·조회하고 목표를 관리하는 영역이다.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3D8F3"/>
                </a:solidFill>
                <a:latin typeface="맑은 고딕"/>
                <a:ea typeface="맑은 고딕"/>
                <a:cs typeface="맑은 고딕"/>
              </a:rPr>
              <a:t>화면 3건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KPI관리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생산성 KPI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43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KPI관리 &gt; 생산성 KPI 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현황판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생산량·설비가동률·공정 리드타임 등 생산성 지표를 조회한다.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207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408680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집계 기간 지정 → 작업지시 확정~포장완료 구간 집계 → 평균 리드타임 산출 → 목표 대비 달성률 표시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8435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012692"/>
            <a:ext cx="3099816" cy="613664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012692"/>
            <a:ext cx="27432" cy="613664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044696"/>
            <a:ext cx="2990088" cy="54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성과지표 관리 기능은 시스템 내 대시보드 형식으로 구현되어야 한다(2.9 필수 반영 사항). 산식: 제조 리드타임 감소율(%) = (1,320 − 1,080) ÷ 1,320 × 100 = 18.2%. 측정근거는 2025년 생산 일지이다.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801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생산량, 설비가동률, 공정 리드타임을 조회한다.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성과지표 '제조 리드타임'(작업지시 확정~포장완료 평균 소요시간)을 자동 산출한다.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기존값 1,320시간 대비 목표값 1,080시간의 달성 현황을 표시한다.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산출 결과를 KPI 측정실적으로 저장한다.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KPI관리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KPI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44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KPI관리 &gt; 품질 KPI 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현황판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불량률·공정별 불량 유형·출하 품질 합격률·클레임 발생률 등을 자동 산출하여 시각화한다.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집계 기간 지정 → 검사·실적·클레임 집계 → 품질 지표 산출 → 대시보드 시각화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48768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487680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품질 KPI는 사업계획서 1.5 성과지표(제조 리드타임·수주출하 리드타임) 2건에 포함되지 않는 운영 지표이므로 정부 성과지표 산출 근거로는 사용하지 않는다.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31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932680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불량률, 공정별 불량 유형, 출하 품질 합격률, 클레임 발생률을 자동 산출한다.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산출 결과를 대시보드로 시각화한다.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공식 성과지표 2건과 구분하여 운영 지표로 표기한다.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지표 클릭 시 검사결과관리·클레임분석으로 이동한다.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45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594664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KPI_MEASURES, SHP_INSPECTIONS, SHP_CLAIMS, PRC_PERFORM …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KPI관리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KPI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45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MES-TD3-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2F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B5FA8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MES-TD3-045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MES-TD4-045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KPI관리 &gt; KPI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258568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255117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697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89864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KPI 목표값 설정·기준 변경·공정별 KPI 관리 및 이력 추적 기능을 제공한다.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33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466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KPI 목표 등록(기존값·목표값·가중치) → 산식 설정 → 집계 실행 → 달성률 분석 → 이력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9695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제약사항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9952" y="4138676"/>
            <a:ext cx="3099816" cy="739648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4138676"/>
            <a:ext cx="27432" cy="739648"/>
          </a:xfrm>
          <a:prstGeom prst="rect">
            <a:avLst/>
          </a:prstGeom>
          <a:solidFill>
            <a:srgbClr val="B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4170680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성과지표 기존값·목표값은 사업계획서 1.5의 확정값(제조 리드타임 1,320h→1,080h 가중치 0.5, 수주출하 리드타임 1,440h→1,200h 가중치 0.5)을 초기값으로 등록한다. 측정 근거는 2025년 생산 일지(수주출하는 3개월분)이다. 수주출하 리드타임 단축률(%) = (1,440 − 1,200) ÷ 1,440 × 100 = 16.7%.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9834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7FB0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184648"/>
            <a:ext cx="2990088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1. KPI 목표값 등록·수정·삭제를 제공한다.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2. KPI 달성률 분석 리포트를 출력한다.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3. 성과지표 2건(제조 리드타임 h, 수주출하 리드타임 h)의 기존값·목표값·가중치를 관리한다.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4. 공식 성과지표와 부가 목표를 구분하여 관리한다.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463040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6C4DA"/>
                </a:solidFill>
                <a:latin typeface="맑은 고딕"/>
                <a:ea typeface="맑은 고딕"/>
                <a:cs typeface="맑은 고딕"/>
              </a:rPr>
              <a:t>모든 업무 화면에 공통으로 적용되는 메인·로그인·팝업·대시보드 화면이다.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3D8F3"/>
                </a:solidFill>
                <a:latin typeface="맑은 고딕"/>
                <a:ea typeface="맑은 고딕"/>
                <a:cs typeface="맑은 고딕"/>
              </a:rPr>
              <a:t>화면 4건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공통화면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메인시안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46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common-comm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8A6A24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COMMON-MAIN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2881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현황판 2대, 현장POP, 스마트패드 공통 적용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59952" y="2263266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240957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2610739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메인 화면은 진행 중 프로젝트(수주) 현황, 제조·수주출하 리드타임, 설비 가동 상태, 납기 리스크를 카드와 차트로 제공한다.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17157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3372739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메인 화면은 진행 중 프로젝트(수주) 현황, 제조·수주출하 리드타임, 설비 가동 상태, 납기 리스크를 카드와 차트로 제공한다.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93357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413473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KPI_MEASURES, KPI_TARGETS, EST_PROJECTS, PRC_EQUIP_SIGNALS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공통화면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로그인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47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common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8A6A24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COMMON-LOGIN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MES-AD2-026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로그인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574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현장POP, 스마트패드 공통 적용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59952" y="2350008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4963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697480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사용자 인증 및 RBAC 권한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00634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3207512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사용자ID와 비밀번호를 입력하여 시스템에 접속한다. 로그인 성공 시 RBAC 역할에 따른 메뉴가 노출된다.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6423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연계 테이블 3종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843528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SYS_USERS, SYS_ROLE_PERMISSIONS, SYS_ACCESS_LOGS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공통화면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팝업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48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common-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8A6A24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COMMON-POPUP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공통 &gt; 팝업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현장POP, 스마트패드 공통 적용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59952" y="214884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2496312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등록·수정·상세조회·코드 검색 공통 팝업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80517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3006344"/>
            <a:ext cx="2990088" cy="423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등록·수정·상세조회·확인·오류 알림 등 반복 사용되는 공통 팝업이다. 프로젝트(수주)번호·자재/제품 LOT·공정 코드 검색 팝업을 포함한다.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56717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연계 테이블 3종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3768344"/>
            <a:ext cx="2990088" cy="171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BAS_COMMON_CODES, EST_PROJECTS, SHP_LOT_TRACES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공통화면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49 / 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827532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d3-commo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85156"/>
            <a:ext cx="8165592" cy="4607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13648" y="868680"/>
            <a:ext cx="3410712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868680"/>
            <a:ext cx="50292" cy="5440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0149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1028699"/>
            <a:ext cx="420624" cy="18288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57432" y="105155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8A6A24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9952" y="132588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538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1453895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COMMON-DASHBOARD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550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655063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공통 &gt; 대시보드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5623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56231"/>
            <a:ext cx="2496312" cy="15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관리자 Web, 현황판 2대 적용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59952" y="2148840"/>
            <a:ext cx="3099816" cy="12801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화면 목적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2496312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수주·견적, 생산, 품질, 출하, 설비 요약 정보를 카드와 차트로 제공하며 현황판 2대에 동일 화면을 표출한다.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9311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 절차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3132328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수주·견적, 생산, 품질, 출하, 설비 요약 정보를 카드와 차트로 제공하며 현황판 2대에 동일 화면을 표출한다.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56717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연계 테이블 4종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3768344"/>
            <a:ext cx="2990088" cy="29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8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KPI_MEASURES, PRC_PERFORMANCES, SHP_SHIPMENTS, SHP_INSPECTIONS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화면정의서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도입기업 검토 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987552"/>
          <a:ext cx="11292840" cy="415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286000"/>
                <a:gridCol w="1463040"/>
                <a:gridCol w="1005840"/>
                <a:gridCol w="60350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화면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업무영역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결과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의견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MES-TD3-001~MES-TD3-004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대시보드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현황판 2대 표출 항목과 갱신 주기 확정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MES-TD3-005~MES-TD3-009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입고재고관리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필요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ERP 연계 범위와 Excel 초기 이관 대상 확정 필요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MES-TD3-010~MES-TD3-015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수주견적AI관리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견적 학습 대상 제품군 정의(Pure Steam Generator 도면 0건, 저장탱크·누체필터 다수) 확인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MES-TD3-016~MES-TD3-020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출하물류관리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필요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출하검사 항목(수압·기밀·진공) 표준화와 성적서 양식 확정 필요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MES-TD3-021~MES-TD3-025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 공정(소재가공·버핑) 실적 회신 방식 확정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MES-TD3-026~MES-TD3-029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사용자/시스템관리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필요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정의와 권한 매트릭스 최종 확인 필요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MES-TD3-030~MES-TD3-032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기준정보관리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품질기준·작업표준 초기 데이터는 도입기업 제공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MES-TD3-033~MES-TD3-037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필요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CAD 도면 1,283건 중 중복 183건·손상 4건 정제 기준 확인 필요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MES-TD3-038~MES-TD3-042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 통합관리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Vector DB 제품(pgvector/Qdrant) 확정 및 임베딩 대상 문서 목록 확인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MES-TD3-043~MES-TD3-045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KPI관리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필요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성과지표 측정 시점(작업지시 확정·포장완료·수주확정·출하) 기록 방식 확인 필요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822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598"/>
                </a:solidFill>
                <a:latin typeface="맑은 고딕"/>
                <a:ea typeface="맑은 고딕"/>
                <a:cs typeface="맑은 고딕"/>
              </a:rPr>
              <a:t>화면정의서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74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산출물 교차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5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987552"/>
          <a:ext cx="112928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035040"/>
                <a:gridCol w="914400"/>
                <a:gridCol w="26974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항목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내용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연계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요구사항 45건(MES-AD2-001~045)이 화면ID MES-TD3-001~045와 1:1로 매핑되는가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순번 일치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비기능 요구사항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비기능 13건(MES-AD2-046~058)으로 화면을 생성하지 않았는가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SF-TD2에서 처리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연계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화면의 checks에 프로그램ID(MES-TD4-###)가 기재되어 SF-TD4와 일치하는가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45건 일치, 인터페이스 4건은 화면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연계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화면별 관련 테이블이 SF-TD5의 68종에 실재하는가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화면 검증 완료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그리드 열 근거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그리드 열이 SF-TD5 컬럼 정의에서 도출되었는가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테이블 컬럼명 기준 작성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 판정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기존/추가/변경이 SF-AD3 기능대비표와 일치하는가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4 / 추가 17 / 변경 24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적용 범위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화면이 수주·견적 / 입고·보관 / 보관·출하 3대 공정에만 배치되었는가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예지보전·품질예측 화면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타사 정보 잔존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참조 템플릿(식품 제조사)의 공정·설비·화면명이 잔존하지 않는가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충진기·멸균기·X-Ray·HACCP 등 미사용</a:t>
                      </a:r>
                    </a:p>
                  </a:txBody>
                  <a:tcPr marL="54864" marR="54864" marT="18288" marB="18288" anchor="ctr">
                    <a:solidFill>
                      <a:srgbClr val="FAFB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C24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예시 데이터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목업의 예시 데이터가 실제 데이터로 오인되지 않도록 표기되었는가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55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(예시) 표기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064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검토  경동글로벌텍 제미애 대표 / 주원중 공장장 (도입기업 검토)  (2026. . .)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4A5566"/>
                </a:solidFill>
                <a:latin typeface="맑은 고딕"/>
                <a:ea typeface="맑은 고딕"/>
                <a:cs typeface="맑은 고딕"/>
              </a:rPr>
              <a:t>작성  주식회사 재일 김형미 대표 (개발PM)  (2026. 08. 14)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